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Times New Roman" panose="020206030504050203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yebrow"/>
          <p:cNvSpPr/>
          <p:nvPr/>
        </p:nvSpPr>
        <p:spPr>
          <a:xfrm>
            <a:off x="609600" y="431800"/>
            <a:ext cx="10160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MACHINE LEARNING COURSE PROJECT  ·  PROPOSAL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609600" y="1879600"/>
            <a:ext cx="10972800" cy="299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Predict the Future of Vechicle Trajectory</a:t>
            </a:r>
            <a:endParaRPr lang="en-US" sz="8000" dirty="0"/>
          </a:p>
        </p:txBody>
      </p:sp>
      <p:sp>
        <p:nvSpPr>
          <p:cNvPr id="5" name="sub"/>
          <p:cNvSpPr/>
          <p:nvPr/>
        </p:nvSpPr>
        <p:spPr>
          <a:xfrm>
            <a:off x="609600" y="5181600"/>
            <a:ext cx="10972800" cy="857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diffusion vs. flow matching — and when to use which</a:t>
            </a:r>
            <a:endParaRPr lang="en-US" sz="2100" dirty="0">
              <a:solidFill>
                <a:srgbClr val="26231E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buNone/>
            </a:pPr>
            <a:r>
              <a:rPr lang="en-US" sz="2100" dirty="0"/>
              <a:t>Team memers: Parick He, Silas He, Mila Liu, Nacy Lin</a:t>
            </a:r>
            <a:endParaRPr lang="en-US" sz="2100" dirty="0"/>
          </a:p>
        </p:txBody>
      </p:sp>
      <p:sp>
        <p:nvSpPr>
          <p:cNvPr id="6" name="footer"/>
          <p:cNvSpPr/>
          <p:nvPr/>
        </p:nvSpPr>
        <p:spPr>
          <a:xfrm>
            <a:off x="609600" y="6451600"/>
            <a:ext cx="9652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1675 INTRODUCTION TO MACHINE LEARNING</a:t>
            </a:r>
            <a:endParaRPr lang="en-US" sz="1000" dirty="0"/>
          </a:p>
        </p:txBody>
      </p:sp>
      <p:sp>
        <p:nvSpPr>
          <p:cNvPr id="7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THE PROBLEM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past, three futures</a:t>
            </a:r>
            <a:endParaRPr lang="en-US" sz="3600" dirty="0"/>
          </a:p>
        </p:txBody>
      </p:sp>
      <p:pic>
        <p:nvPicPr>
          <p:cNvPr id="5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30400" y="1600200"/>
            <a:ext cx="8331200" cy="4343400"/>
          </a:xfrm>
          <a:prstGeom prst="rect">
            <a:avLst/>
          </a:prstGeom>
        </p:spPr>
      </p:pic>
      <p:sp>
        <p:nvSpPr>
          <p:cNvPr id="6" name="readout"/>
          <p:cNvSpPr/>
          <p:nvPr/>
        </p:nvSpPr>
        <p:spPr>
          <a:xfrm>
            <a:off x="609600" y="60706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Predict the average — and the car drives into the kerb.</a:t>
            </a:r>
            <a:endParaRPr lang="en-US" sz="1700" dirty="0"/>
          </a:p>
        </p:txBody>
      </p:sp>
      <p:sp>
        <p:nvSpPr>
          <p:cNvPr id="7" name="footer"/>
          <p:cNvSpPr/>
          <p:nvPr/>
        </p:nvSpPr>
        <p:spPr>
          <a:xfrm>
            <a:off x="609600" y="6477000"/>
            <a:ext cx="10414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regressor trained with mean squared error returns the conditional mean, not a drivable path.</a:t>
            </a:r>
            <a:endParaRPr lang="en-US" sz="1000" dirty="0"/>
          </a:p>
        </p:txBody>
      </p:sp>
      <p:sp>
        <p:nvSpPr>
          <p:cNvPr id="8" name="pagenum"/>
          <p:cNvSpPr/>
          <p:nvPr/>
        </p:nvSpPr>
        <p:spPr>
          <a:xfrm>
            <a:off x="11049000" y="64262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4318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THE TWO METHODS</a:t>
            </a:r>
            <a:endParaRPr lang="en-US" sz="1200" dirty="0"/>
          </a:p>
        </p:txBody>
      </p:sp>
      <p:pic>
        <p:nvPicPr>
          <p:cNvPr id="4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05000" y="863600"/>
            <a:ext cx="8382000" cy="3924300"/>
          </a:xfrm>
          <a:prstGeom prst="rect">
            <a:avLst/>
          </a:prstGeom>
        </p:spPr>
      </p:pic>
      <p:sp>
        <p:nvSpPr>
          <p:cNvPr id="5" name="headline"/>
          <p:cNvSpPr/>
          <p:nvPr/>
        </p:nvSpPr>
        <p:spPr>
          <a:xfrm>
            <a:off x="609600" y="49784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Two ways to learn a future</a:t>
            </a:r>
            <a:endParaRPr lang="en-US" sz="3600" dirty="0"/>
          </a:p>
        </p:txBody>
      </p:sp>
      <p:sp>
        <p:nvSpPr>
          <p:cNvPr id="6" name="readout"/>
          <p:cNvSpPr/>
          <p:nvPr/>
        </p:nvSpPr>
        <p:spPr>
          <a:xfrm>
            <a:off x="609600" y="56896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learns to undo noise; the other learns a flow. The number of steps follows from that.</a:t>
            </a:r>
            <a:endParaRPr lang="en-US" sz="1600" dirty="0"/>
          </a:p>
        </p:txBody>
      </p:sp>
      <p:sp>
        <p:nvSpPr>
          <p:cNvPr id="7" name="footer"/>
          <p:cNvSpPr/>
          <p:nvPr/>
        </p:nvSpPr>
        <p:spPr>
          <a:xfrm>
            <a:off x="609600" y="6477000"/>
            <a:ext cx="10414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Both are trained on the same data and share the same encoder in our experiments.</a:t>
            </a:r>
            <a:endParaRPr lang="en-US" sz="1000" dirty="0"/>
          </a:p>
        </p:txBody>
      </p:sp>
      <p:sp>
        <p:nvSpPr>
          <p:cNvPr id="8" name="pagenum"/>
          <p:cNvSpPr/>
          <p:nvPr/>
        </p:nvSpPr>
        <p:spPr>
          <a:xfrm>
            <a:off x="11049000" y="64262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HOW IT RUNS ON nuPLAN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From a scene to a future</a:t>
            </a:r>
            <a:endParaRPr lang="en-US" sz="3600" dirty="0"/>
          </a:p>
        </p:txBody>
      </p:sp>
      <p:sp>
        <p:nvSpPr>
          <p:cNvPr id="5" name="readout"/>
          <p:cNvSpPr/>
          <p:nvPr/>
        </p:nvSpPr>
        <p:spPr>
          <a:xfrm>
            <a:off x="609600" y="16256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encoder reads the scene. Only the decoder that imagines is swapped between models.</a:t>
            </a:r>
            <a:endParaRPr lang="en-US" sz="1600" dirty="0"/>
          </a:p>
        </p:txBody>
      </p:sp>
      <p:pic>
        <p:nvPicPr>
          <p:cNvPr id="6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" y="1981200"/>
            <a:ext cx="10972800" cy="4368800"/>
          </a:xfrm>
          <a:prstGeom prst="rect">
            <a:avLst/>
          </a:prstGeom>
        </p:spPr>
      </p:pic>
      <p:sp>
        <p:nvSpPr>
          <p:cNvPr id="7" name="footer"/>
          <p:cNvSpPr/>
          <p:nvPr/>
        </p:nvSpPr>
        <p:spPr>
          <a:xfrm>
            <a:off x="609600" y="6502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Pipeline after Diffusion-Planner (ICLR 2025), redrawn. It plans the ego car on nuPlan; we reuse the recipe for prediction.</a:t>
            </a:r>
            <a:endParaRPr lang="en-US" sz="1000" dirty="0"/>
          </a:p>
        </p:txBody>
      </p:sp>
      <p:sp>
        <p:nvSpPr>
          <p:cNvPr id="8" name="pagenum"/>
          <p:cNvSpPr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THE DATA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Real driving, seen from above (Database: nuPlan)</a:t>
            </a:r>
            <a:endParaRPr lang="en-US" sz="3600" dirty="0"/>
          </a:p>
        </p:txBody>
      </p:sp>
      <p:pic>
        <p:nvPicPr>
          <p:cNvPr id="5" name="shot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9000" y="1549400"/>
            <a:ext cx="3022600" cy="3022600"/>
          </a:xfrm>
          <a:prstGeom prst="rect">
            <a:avLst/>
          </a:prstGeom>
        </p:spPr>
      </p:pic>
      <p:pic>
        <p:nvPicPr>
          <p:cNvPr id="6" name="shot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84700" y="1549400"/>
            <a:ext cx="3022600" cy="3022600"/>
          </a:xfrm>
          <a:prstGeom prst="rect">
            <a:avLst/>
          </a:prstGeom>
        </p:spPr>
      </p:pic>
      <p:pic>
        <p:nvPicPr>
          <p:cNvPr id="7" name="shot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0400" y="1549400"/>
            <a:ext cx="3022600" cy="3022600"/>
          </a:xfrm>
          <a:prstGeom prst="rect">
            <a:avLst/>
          </a:prstGeom>
        </p:spPr>
      </p:pic>
      <p:sp>
        <p:nvSpPr>
          <p:cNvPr id="8" name="cap1"/>
          <p:cNvSpPr/>
          <p:nvPr/>
        </p:nvSpPr>
        <p:spPr>
          <a:xfrm>
            <a:off x="889000" y="46482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INTERSECTION</a:t>
            </a:r>
            <a:endParaRPr lang="en-US" sz="1250" dirty="0"/>
          </a:p>
        </p:txBody>
      </p:sp>
      <p:sp>
        <p:nvSpPr>
          <p:cNvPr id="9" name="cap2"/>
          <p:cNvSpPr/>
          <p:nvPr/>
        </p:nvSpPr>
        <p:spPr>
          <a:xfrm>
            <a:off x="4584700" y="46482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PEDESTRIAN CROSSING</a:t>
            </a:r>
            <a:endParaRPr lang="en-US" sz="1250" dirty="0"/>
          </a:p>
        </p:txBody>
      </p:sp>
      <p:sp>
        <p:nvSpPr>
          <p:cNvPr id="10" name="cap3"/>
          <p:cNvSpPr/>
          <p:nvPr/>
        </p:nvSpPr>
        <p:spPr>
          <a:xfrm>
            <a:off x="8280400" y="46482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UNPROTECTED TURN</a:t>
            </a:r>
            <a:endParaRPr lang="en-US" sz="1250" dirty="0"/>
          </a:p>
        </p:txBody>
      </p:sp>
      <p:sp>
        <p:nvSpPr>
          <p:cNvPr id="11" name="task"/>
          <p:cNvSpPr/>
          <p:nvPr/>
        </p:nvSpPr>
        <p:spPr>
          <a:xfrm>
            <a:off x="609600" y="5080000"/>
            <a:ext cx="1097280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 s of history  →  8 s of future</a:t>
            </a:r>
            <a:endParaRPr lang="en-US" sz="2600" dirty="0"/>
          </a:p>
        </p:txBody>
      </p:sp>
      <p:sp>
        <p:nvSpPr>
          <p:cNvPr id="12" name="note"/>
          <p:cNvSpPr/>
          <p:nvPr/>
        </p:nvSpPr>
        <p:spPr>
          <a:xfrm>
            <a:off x="609600" y="56388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nuPlan already labels every intersection, crossing and turn — so we do not have to guess.</a:t>
            </a:r>
            <a:endParaRPr lang="en-US" sz="1500" dirty="0"/>
          </a:p>
        </p:txBody>
      </p:sp>
      <p:sp>
        <p:nvSpPr>
          <p:cNvPr id="13" name="footer"/>
          <p:cNvSpPr/>
          <p:nvPr/>
        </p:nvSpPr>
        <p:spPr>
          <a:xfrm>
            <a:off x="609600" y="64516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nuPlan mini · 10 Hz · four cities. Scene renders: nuPlan bird's-eye view, shown as an illustration of the data.</a:t>
            </a:r>
            <a:endParaRPr lang="en-US" sz="1000" dirty="0"/>
          </a:p>
        </p:txBody>
      </p:sp>
      <p:sp>
        <p:nvSpPr>
          <p:cNvPr id="14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THE QUESTION WE ASK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1346200"/>
            <a:ext cx="4191000" cy="218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 model</a:t>
            </a:r>
            <a:endParaRPr lang="en-US" sz="3400" dirty="0"/>
          </a:p>
          <a:p>
            <a:pPr marL="0" indent="0" algn="l">
              <a:buNone/>
            </a:pPr>
            <a:r>
              <a:rPr lang="en-US" sz="34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wins</a:t>
            </a:r>
            <a:endParaRPr lang="en-US" sz="3400" dirty="0"/>
          </a:p>
          <a:p>
            <a:pPr marL="0" indent="0" algn="l">
              <a:buNone/>
            </a:pPr>
            <a:r>
              <a:rPr lang="en-US" sz="34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everywhere</a:t>
            </a:r>
            <a:endParaRPr lang="en-US" sz="3400" dirty="0"/>
          </a:p>
        </p:txBody>
      </p:sp>
      <p:sp>
        <p:nvSpPr>
          <p:cNvPr id="5" name="leftnote"/>
          <p:cNvSpPr/>
          <p:nvPr/>
        </p:nvSpPr>
        <p:spPr>
          <a:xfrm>
            <a:off x="609600" y="3759200"/>
            <a:ext cx="4140200" cy="142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It depends on how much compute you are allowed to spend at test time.</a:t>
            </a:r>
            <a:endParaRPr lang="en-US" sz="1600" dirty="0"/>
          </a:p>
        </p:txBody>
      </p:sp>
      <p:pic>
        <p:nvPicPr>
          <p:cNvPr id="6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80000" y="1346200"/>
            <a:ext cx="6502400" cy="3390900"/>
          </a:xfrm>
          <a:prstGeom prst="rect">
            <a:avLst/>
          </a:prstGeom>
        </p:spPr>
      </p:pic>
      <p:sp>
        <p:nvSpPr>
          <p:cNvPr id="7" name="rightnote"/>
          <p:cNvSpPr/>
          <p:nvPr/>
        </p:nvSpPr>
        <p:spPr>
          <a:xfrm>
            <a:off x="5080000" y="4953000"/>
            <a:ext cx="65024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That is the question our whole project is built to answer.</a:t>
            </a:r>
            <a:endParaRPr lang="en-US" sz="1700" dirty="0"/>
          </a:p>
        </p:txBody>
      </p:sp>
      <p:sp>
        <p:nvSpPr>
          <p:cNvPr id="8" name="footer"/>
          <p:cNvSpPr/>
          <p:nvPr/>
        </p:nvSpPr>
        <p:spPr>
          <a:xfrm>
            <a:off x="609600" y="64516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Chart shows the expected shape of the comparison, not measured results.</a:t>
            </a:r>
            <a:endParaRPr lang="en-US" sz="1000" dirty="0"/>
          </a:p>
        </p:txBody>
      </p:sp>
      <p:sp>
        <p:nvSpPr>
          <p:cNvPr id="9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 / THE PLAN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Several models, one brain</a:t>
            </a:r>
            <a:endParaRPr lang="en-US" sz="3600" dirty="0"/>
          </a:p>
        </p:txBody>
      </p:sp>
      <p:sp>
        <p:nvSpPr>
          <p:cNvPr id="5" name="b1n"/>
          <p:cNvSpPr/>
          <p:nvPr/>
        </p:nvSpPr>
        <p:spPr>
          <a:xfrm>
            <a:off x="965200" y="18542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b2n"/>
          <p:cNvSpPr/>
          <p:nvPr/>
        </p:nvSpPr>
        <p:spPr>
          <a:xfrm>
            <a:off x="3149600" y="18542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b3n"/>
          <p:cNvSpPr/>
          <p:nvPr/>
        </p:nvSpPr>
        <p:spPr>
          <a:xfrm>
            <a:off x="5334000" y="18542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2100" dirty="0"/>
          </a:p>
        </p:txBody>
      </p:sp>
      <p:sp>
        <p:nvSpPr>
          <p:cNvPr id="8" name="b4n"/>
          <p:cNvSpPr/>
          <p:nvPr/>
        </p:nvSpPr>
        <p:spPr>
          <a:xfrm>
            <a:off x="7518400" y="18542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2100" dirty="0"/>
          </a:p>
        </p:txBody>
      </p:sp>
      <p:sp>
        <p:nvSpPr>
          <p:cNvPr id="9" name="b5n"/>
          <p:cNvSpPr/>
          <p:nvPr/>
        </p:nvSpPr>
        <p:spPr>
          <a:xfrm>
            <a:off x="9702800" y="18542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FBF9F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2100" dirty="0"/>
          </a:p>
        </p:txBody>
      </p:sp>
      <p:sp>
        <p:nvSpPr>
          <p:cNvPr id="10" name="b1l"/>
          <p:cNvSpPr/>
          <p:nvPr/>
        </p:nvSpPr>
        <p:spPr>
          <a:xfrm>
            <a:off x="762000" y="2438400"/>
            <a:ext cx="1930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</a:t>
            </a:r>
            <a:endParaRPr lang="en-US" sz="1350" dirty="0"/>
          </a:p>
        </p:txBody>
      </p:sp>
      <p:sp>
        <p:nvSpPr>
          <p:cNvPr id="11" name="b2l"/>
          <p:cNvSpPr/>
          <p:nvPr/>
        </p:nvSpPr>
        <p:spPr>
          <a:xfrm>
            <a:off x="2946400" y="2438400"/>
            <a:ext cx="1930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train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models</a:t>
            </a:r>
            <a:endParaRPr lang="en-US" sz="1350" dirty="0"/>
          </a:p>
        </p:txBody>
      </p:sp>
      <p:sp>
        <p:nvSpPr>
          <p:cNvPr id="12" name="b3l"/>
          <p:cNvSpPr/>
          <p:nvPr/>
        </p:nvSpPr>
        <p:spPr>
          <a:xfrm>
            <a:off x="5130800" y="2438400"/>
            <a:ext cx="1930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sample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futures</a:t>
            </a:r>
            <a:endParaRPr lang="en-US" sz="1350" dirty="0"/>
          </a:p>
        </p:txBody>
      </p:sp>
      <p:sp>
        <p:nvSpPr>
          <p:cNvPr id="13" name="b4l"/>
          <p:cNvSpPr/>
          <p:nvPr/>
        </p:nvSpPr>
        <p:spPr>
          <a:xfrm>
            <a:off x="7315200" y="2438400"/>
            <a:ext cx="1930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score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&amp; search</a:t>
            </a:r>
            <a:endParaRPr lang="en-US" sz="1350" dirty="0"/>
          </a:p>
        </p:txBody>
      </p:sp>
      <p:sp>
        <p:nvSpPr>
          <p:cNvPr id="14" name="b5l"/>
          <p:cNvSpPr/>
          <p:nvPr/>
        </p:nvSpPr>
        <p:spPr>
          <a:xfrm>
            <a:off x="9499600" y="2438400"/>
            <a:ext cx="1930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pick the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model</a:t>
            </a:r>
            <a:endParaRPr lang="en-US" sz="1350" dirty="0"/>
          </a:p>
        </p:txBody>
      </p:sp>
      <p:sp>
        <p:nvSpPr>
          <p:cNvPr id="15" name="m1"/>
          <p:cNvSpPr/>
          <p:nvPr/>
        </p:nvSpPr>
        <p:spPr>
          <a:xfrm>
            <a:off x="609600" y="3251200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6" name="m1d"/>
          <p:cNvSpPr/>
          <p:nvPr/>
        </p:nvSpPr>
        <p:spPr>
          <a:xfrm>
            <a:off x="4318000" y="3302000"/>
            <a:ext cx="7264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close the best guess gets to the real future</a:t>
            </a:r>
            <a:endParaRPr lang="en-US" sz="1500" dirty="0"/>
          </a:p>
        </p:txBody>
      </p:sp>
      <p:sp>
        <p:nvSpPr>
          <p:cNvPr id="17" name="m2"/>
          <p:cNvSpPr/>
          <p:nvPr/>
        </p:nvSpPr>
        <p:spPr>
          <a:xfrm>
            <a:off x="609600" y="3810000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COVERAGE</a:t>
            </a:r>
            <a:endParaRPr lang="en-US" sz="1800" dirty="0"/>
          </a:p>
        </p:txBody>
      </p:sp>
      <p:sp>
        <p:nvSpPr>
          <p:cNvPr id="18" name="m2d"/>
          <p:cNvSpPr/>
          <p:nvPr/>
        </p:nvSpPr>
        <p:spPr>
          <a:xfrm>
            <a:off x="4318000" y="3860800"/>
            <a:ext cx="7264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does it cover the futures that really happen?</a:t>
            </a:r>
            <a:endParaRPr lang="en-US" sz="1500" dirty="0"/>
          </a:p>
        </p:txBody>
      </p:sp>
      <p:sp>
        <p:nvSpPr>
          <p:cNvPr id="19" name="m3"/>
          <p:cNvSpPr/>
          <p:nvPr/>
        </p:nvSpPr>
        <p:spPr>
          <a:xfrm>
            <a:off x="609600" y="4368800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SAFETY</a:t>
            </a:r>
            <a:endParaRPr lang="en-US" sz="1800" dirty="0"/>
          </a:p>
        </p:txBody>
      </p:sp>
      <p:sp>
        <p:nvSpPr>
          <p:cNvPr id="20" name="m3d"/>
          <p:cNvSpPr/>
          <p:nvPr/>
        </p:nvSpPr>
        <p:spPr>
          <a:xfrm>
            <a:off x="4318000" y="4419600"/>
            <a:ext cx="7264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often nothing lands near the truth</a:t>
            </a:r>
            <a:endParaRPr lang="en-US" sz="1500" dirty="0"/>
          </a:p>
        </p:txBody>
      </p:sp>
      <p:sp>
        <p:nvSpPr>
          <p:cNvPr id="21" name="m4"/>
          <p:cNvSpPr/>
          <p:nvPr/>
        </p:nvSpPr>
        <p:spPr>
          <a:xfrm>
            <a:off x="609600" y="4927600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COST</a:t>
            </a:r>
            <a:endParaRPr lang="en-US" sz="1800" dirty="0"/>
          </a:p>
        </p:txBody>
      </p:sp>
      <p:sp>
        <p:nvSpPr>
          <p:cNvPr id="22" name="m4d"/>
          <p:cNvSpPr/>
          <p:nvPr/>
        </p:nvSpPr>
        <p:spPr>
          <a:xfrm>
            <a:off x="4318000" y="4978400"/>
            <a:ext cx="7264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model calls and wall-clock time per prediction</a:t>
            </a:r>
            <a:endParaRPr lang="en-US" sz="1500" dirty="0"/>
          </a:p>
        </p:txBody>
      </p:sp>
      <p:sp>
        <p:nvSpPr>
          <p:cNvPr id="23" name="readout"/>
          <p:cNvSpPr/>
          <p:nvPr/>
        </p:nvSpPr>
        <p:spPr>
          <a:xfrm>
            <a:off x="609600" y="5664200"/>
            <a:ext cx="109728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shared encoder. Only the way each model imagines is allowed to differ.</a:t>
            </a:r>
            <a:endParaRPr lang="en-US" sz="1700" dirty="0"/>
          </a:p>
        </p:txBody>
      </p:sp>
      <p:sp>
        <p:nvSpPr>
          <p:cNvPr id="24" name="footer"/>
          <p:cNvSpPr/>
          <p:nvPr/>
        </p:nvSpPr>
        <p:spPr>
          <a:xfrm>
            <a:off x="609600" y="64516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Headline comparison: both generative models use the same first-order solver, so a difference cannot come from the solver.</a:t>
            </a:r>
            <a:endParaRPr lang="en-US" sz="1000" dirty="0"/>
          </a:p>
        </p:txBody>
      </p:sp>
      <p:sp>
        <p:nvSpPr>
          <p:cNvPr id="25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 / WHAT WE DELIVER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cheap selector to decide which model to use</a:t>
            </a:r>
            <a:endParaRPr lang="en-US" sz="3600" dirty="0"/>
          </a:p>
        </p:txBody>
      </p:sp>
      <p:pic>
        <p:nvPicPr>
          <p:cNvPr id="5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" y="1625600"/>
            <a:ext cx="10972800" cy="3695700"/>
          </a:xfrm>
          <a:prstGeom prst="rect">
            <a:avLst/>
          </a:prstGeom>
        </p:spPr>
      </p:pic>
      <p:sp>
        <p:nvSpPr>
          <p:cNvPr id="6" name="readout"/>
          <p:cNvSpPr/>
          <p:nvPr/>
        </p:nvSpPr>
        <p:spPr>
          <a:xfrm>
            <a:off x="609600" y="5486400"/>
            <a:ext cx="109728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Total decision time = the selector plus exactly one model. The selector itself is almost free.</a:t>
            </a:r>
            <a:endParaRPr lang="en-US" sz="1700" dirty="0"/>
          </a:p>
        </p:txBody>
      </p:sp>
      <p:sp>
        <p:nvSpPr>
          <p:cNvPr id="7" name="second"/>
          <p:cNvSpPr/>
          <p:nvPr/>
        </p:nvSpPr>
        <p:spPr>
          <a:xfrm>
            <a:off x="609600" y="59182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Easy scenes go to the cheap model; only the hard ones pay for the expensive one.</a:t>
            </a:r>
            <a:endParaRPr lang="en-US" sz="1500" dirty="0"/>
          </a:p>
        </p:txBody>
      </p:sp>
      <p:sp>
        <p:nvSpPr>
          <p:cNvPr id="8" name="footer"/>
          <p:cNvSpPr/>
          <p:nvPr/>
        </p:nvSpPr>
        <p:spPr>
          <a:xfrm>
            <a:off x="609600" y="64516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 provide four trained models of different cost; the selector runs at prediction time and never retrains them.</a:t>
            </a:r>
            <a:endParaRPr lang="en-US" sz="1000" dirty="0"/>
          </a:p>
        </p:txBody>
      </p:sp>
      <p:sp>
        <p:nvSpPr>
          <p:cNvPr id="9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 / WHAT WE EXPECT TO SHOW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Near-best quality, far less time</a:t>
            </a:r>
            <a:endParaRPr lang="en-US" sz="3600" dirty="0"/>
          </a:p>
        </p:txBody>
      </p:sp>
      <p:pic>
        <p:nvPicPr>
          <p:cNvPr id="5" name="fig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05000" y="1574800"/>
            <a:ext cx="8382000" cy="4102100"/>
          </a:xfrm>
          <a:prstGeom prst="rect">
            <a:avLst/>
          </a:prstGeom>
        </p:spPr>
      </p:pic>
      <p:sp>
        <p:nvSpPr>
          <p:cNvPr id="6" name="readout"/>
          <p:cNvSpPr/>
          <p:nvPr/>
        </p:nvSpPr>
        <p:spPr>
          <a:xfrm>
            <a:off x="609600" y="5765800"/>
            <a:ext cx="109728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selector should sit below the line that any single fixed model can reach.</a:t>
            </a:r>
            <a:endParaRPr lang="en-US" sz="1700" dirty="0"/>
          </a:p>
        </p:txBody>
      </p:sp>
      <p:sp>
        <p:nvSpPr>
          <p:cNvPr id="7" name="second"/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 check it on our own four models first, then some sota models on nuPlan's official scorer.</a:t>
            </a:r>
            <a:endParaRPr lang="en-US" sz="1500" dirty="0"/>
          </a:p>
        </p:txBody>
      </p:sp>
      <p:sp>
        <p:nvSpPr>
          <p:cNvPr id="8" name="footer"/>
          <p:cNvSpPr/>
          <p:nvPr/>
        </p:nvSpPr>
        <p:spPr>
          <a:xfrm>
            <a:off x="609600" y="65278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Illustrative shape, not measured results. The blunt question: does a routed policy beat every single model?</a:t>
            </a:r>
            <a:endParaRPr lang="en-US" sz="1000" dirty="0"/>
          </a:p>
        </p:txBody>
      </p:sp>
      <p:sp>
        <p:nvSpPr>
          <p:cNvPr id="9" name="pagenum"/>
          <p:cNvSpPr/>
          <p:nvPr/>
        </p:nvSpPr>
        <p:spPr>
          <a:xfrm>
            <a:off x="11049000" y="64770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bel"/>
          <p:cNvSpPr/>
          <p:nvPr/>
        </p:nvSpPr>
        <p:spPr>
          <a:xfrm>
            <a:off x="609600" y="5080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 / WHO DOES WHAT</a:t>
            </a:r>
            <a:endParaRPr lang="en-US" sz="1200" dirty="0"/>
          </a:p>
        </p:txBody>
      </p:sp>
      <p:sp>
        <p:nvSpPr>
          <p:cNvPr id="4" name="headline"/>
          <p:cNvSpPr/>
          <p:nvPr/>
        </p:nvSpPr>
        <p:spPr>
          <a:xfrm>
            <a:off x="609600" y="965200"/>
            <a:ext cx="109728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Task assignment</a:t>
            </a:r>
            <a:endParaRPr lang="en-US" sz="3600" dirty="0"/>
          </a:p>
        </p:txBody>
      </p:sp>
      <p:sp>
        <p:nvSpPr>
          <p:cNvPr id="5" name="w1"/>
          <p:cNvSpPr/>
          <p:nvPr/>
        </p:nvSpPr>
        <p:spPr>
          <a:xfrm>
            <a:off x="3810000" y="1778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W1</a:t>
            </a:r>
            <a:endParaRPr lang="en-US" sz="1250" dirty="0"/>
          </a:p>
        </p:txBody>
      </p:sp>
      <p:sp>
        <p:nvSpPr>
          <p:cNvPr id="6" name="w2"/>
          <p:cNvSpPr/>
          <p:nvPr/>
        </p:nvSpPr>
        <p:spPr>
          <a:xfrm>
            <a:off x="5334000" y="1778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W2</a:t>
            </a:r>
            <a:endParaRPr lang="en-US" sz="1250" dirty="0"/>
          </a:p>
        </p:txBody>
      </p:sp>
      <p:sp>
        <p:nvSpPr>
          <p:cNvPr id="7" name="w3"/>
          <p:cNvSpPr/>
          <p:nvPr/>
        </p:nvSpPr>
        <p:spPr>
          <a:xfrm>
            <a:off x="6858000" y="1778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W3</a:t>
            </a:r>
            <a:endParaRPr lang="en-US" sz="1250" dirty="0"/>
          </a:p>
        </p:txBody>
      </p:sp>
      <p:sp>
        <p:nvSpPr>
          <p:cNvPr id="8" name="w4"/>
          <p:cNvSpPr/>
          <p:nvPr/>
        </p:nvSpPr>
        <p:spPr>
          <a:xfrm>
            <a:off x="8382000" y="1778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W4</a:t>
            </a:r>
            <a:endParaRPr lang="en-US" sz="1250" dirty="0"/>
          </a:p>
        </p:txBody>
      </p:sp>
      <p:sp>
        <p:nvSpPr>
          <p:cNvPr id="9" name="w5"/>
          <p:cNvSpPr/>
          <p:nvPr/>
        </p:nvSpPr>
        <p:spPr>
          <a:xfrm>
            <a:off x="9906000" y="17780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W5</a:t>
            </a:r>
            <a:endParaRPr lang="en-US" sz="1250" dirty="0"/>
          </a:p>
        </p:txBody>
      </p:sp>
      <p:sp>
        <p:nvSpPr>
          <p:cNvPr id="10" name="nA"/>
          <p:cNvSpPr/>
          <p:nvPr/>
        </p:nvSpPr>
        <p:spPr>
          <a:xfrm>
            <a:off x="609600" y="2133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 ·  DATA</a:t>
            </a:r>
            <a:endParaRPr lang="en-US" sz="1700" dirty="0"/>
          </a:p>
        </p:txBody>
      </p:sp>
      <p:sp>
        <p:nvSpPr>
          <p:cNvPr id="11" name="rA"/>
          <p:cNvSpPr/>
          <p:nvPr/>
        </p:nvSpPr>
        <p:spPr>
          <a:xfrm>
            <a:off x="609600" y="24638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extraction, splits, timing, encoder</a:t>
            </a:r>
            <a:endParaRPr lang="en-US" sz="1150" dirty="0"/>
          </a:p>
        </p:txBody>
      </p:sp>
      <p:sp>
        <p:nvSpPr>
          <p:cNvPr id="12" name="nB"/>
          <p:cNvSpPr/>
          <p:nvPr/>
        </p:nvSpPr>
        <p:spPr>
          <a:xfrm>
            <a:off x="609600" y="28448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  ·  DIFFUSION+ANALYSIS</a:t>
            </a:r>
            <a:endParaRPr lang="en-US" sz="1700" dirty="0"/>
          </a:p>
        </p:txBody>
      </p:sp>
      <p:sp>
        <p:nvSpPr>
          <p:cNvPr id="13" name="rB"/>
          <p:cNvSpPr/>
          <p:nvPr/>
        </p:nvSpPr>
        <p:spPr>
          <a:xfrm>
            <a:off x="609600" y="31750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diffusion model, analysis</a:t>
            </a:r>
            <a:endParaRPr lang="en-US" sz="1150" dirty="0"/>
          </a:p>
        </p:txBody>
      </p:sp>
      <p:sp>
        <p:nvSpPr>
          <p:cNvPr id="14" name="nC"/>
          <p:cNvSpPr/>
          <p:nvPr/>
        </p:nvSpPr>
        <p:spPr>
          <a:xfrm>
            <a:off x="609600" y="35560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 ·  FLOW+ANALYSIS</a:t>
            </a:r>
            <a:endParaRPr lang="en-US" sz="1700" dirty="0"/>
          </a:p>
        </p:txBody>
      </p:sp>
      <p:sp>
        <p:nvSpPr>
          <p:cNvPr id="15" name="rC"/>
          <p:cNvSpPr/>
          <p:nvPr/>
        </p:nvSpPr>
        <p:spPr>
          <a:xfrm>
            <a:off x="609600" y="38862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flow-matching model, analysis</a:t>
            </a:r>
            <a:endParaRPr lang="en-US" sz="1150" dirty="0"/>
          </a:p>
        </p:txBody>
      </p:sp>
      <p:sp>
        <p:nvSpPr>
          <p:cNvPr id="16" name="nD"/>
          <p:cNvSpPr/>
          <p:nvPr/>
        </p:nvSpPr>
        <p:spPr>
          <a:xfrm>
            <a:off x="609600" y="42672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  ·  SELECTOR+TEST</a:t>
            </a:r>
            <a:endParaRPr lang="en-US" sz="1700" dirty="0"/>
          </a:p>
        </p:txBody>
      </p:sp>
      <p:sp>
        <p:nvSpPr>
          <p:cNvPr id="17" name="rD"/>
          <p:cNvSpPr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selector, test on both modles, report</a:t>
            </a:r>
            <a:endParaRPr lang="en-US" sz="1150" dirty="0"/>
          </a:p>
        </p:txBody>
      </p:sp>
      <p:sp>
        <p:nvSpPr>
          <p:cNvPr id="18" name="gate"/>
          <p:cNvSpPr/>
          <p:nvPr/>
        </p:nvSpPr>
        <p:spPr>
          <a:xfrm>
            <a:off x="609600" y="51308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Gate / end of Week 1 — a complete baseline exists, so the project stays intact.</a:t>
            </a:r>
            <a:endParaRPr lang="en-US" sz="1400" dirty="0"/>
          </a:p>
        </p:txBody>
      </p:sp>
      <p:sp>
        <p:nvSpPr>
          <p:cNvPr id="19" name="readout"/>
          <p:cNvSpPr/>
          <p:nvPr/>
        </p:nvSpPr>
        <p:spPr>
          <a:xfrm>
            <a:off x="609600" y="5588000"/>
            <a:ext cx="109728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85D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Everyone owns a deliverable. Nobody is blocked waiting on anyone.</a:t>
            </a:r>
            <a:endParaRPr lang="en-US" sz="1700" dirty="0"/>
          </a:p>
        </p:txBody>
      </p:sp>
      <p:sp>
        <p:nvSpPr>
          <p:cNvPr id="20" name="footer"/>
          <p:cNvSpPr/>
          <p:nvPr/>
        </p:nvSpPr>
        <p:spPr>
          <a:xfrm>
            <a:off x="609600" y="6451600"/>
            <a:ext cx="10922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shared model code and the harness each have one owner, so the workstreams never edit the same file.</a:t>
            </a:r>
            <a:endParaRPr lang="en-US" sz="1000" dirty="0"/>
          </a:p>
        </p:txBody>
      </p:sp>
      <p:sp>
        <p:nvSpPr>
          <p:cNvPr id="21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5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0" y="3663950"/>
            <a:ext cx="1637030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609600" y="1930400"/>
            <a:ext cx="10972800" cy="294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Thanks for your</a:t>
            </a:r>
            <a:endParaRPr lang="en-US" sz="7800" dirty="0">
              <a:solidFill>
                <a:srgbClr val="26231E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3657600" lvl="8" indent="457200" algn="l">
              <a:buNone/>
            </a:pPr>
            <a:r>
              <a:rPr lang="en-US" sz="7800" dirty="0"/>
              <a:t>Listening!</a:t>
            </a:r>
            <a:endParaRPr lang="en-US" sz="7800" dirty="0"/>
          </a:p>
        </p:txBody>
      </p:sp>
      <p:sp>
        <p:nvSpPr>
          <p:cNvPr id="4" name="sub"/>
          <p:cNvSpPr/>
          <p:nvPr/>
        </p:nvSpPr>
        <p:spPr>
          <a:xfrm>
            <a:off x="609600" y="518160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 will deliver the table that says which one wins where — and what that table is worth.</a:t>
            </a:r>
            <a:endParaRPr lang="en-US" sz="2000" dirty="0"/>
          </a:p>
        </p:txBody>
      </p:sp>
      <p:sp>
        <p:nvSpPr>
          <p:cNvPr id="5" name="footer"/>
          <p:cNvSpPr/>
          <p:nvPr/>
        </p:nvSpPr>
        <p:spPr>
          <a:xfrm>
            <a:off x="609600" y="6451600"/>
            <a:ext cx="9652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 1675 INTRODUCTION TO MACHINE LEARNING  ·  TEAM - </a:t>
            </a:r>
            <a:r>
              <a:rPr lang="zh-CN" altLang="en-US" sz="10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四人帮</a:t>
            </a:r>
            <a:endParaRPr lang="zh-CN" altLang="en-US" sz="1000" dirty="0">
              <a:solidFill>
                <a:srgbClr val="26231E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6" name="pagenum"/>
          <p:cNvSpPr/>
          <p:nvPr/>
        </p:nvSpPr>
        <p:spPr>
          <a:xfrm>
            <a:off x="11049000" y="64008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3340</Words>
  <Application>WPS 演示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Times New Roman</vt:lpstr>
      <vt:lpstr>Times New Roman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DeepSeek Harness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Model, When? — Generative Vehicle Trajectory Prediction</dc:title>
  <dc:creator>DSH PPTD</dc:creator>
  <dc:subject>Local PPTD v2 editable rendering</dc:subject>
  <cp:lastModifiedBy>4bm</cp:lastModifiedBy>
  <cp:revision>3</cp:revision>
  <dcterms:created xsi:type="dcterms:W3CDTF">2026-09-21T12:24:00Z</dcterms:created>
  <dcterms:modified xsi:type="dcterms:W3CDTF">2026-09-21T16:07:28Z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243DFB0CBC084CCF81FDDD2E27070F21_12</vt:lpwstr>
  </property>
</Properties>
</file>